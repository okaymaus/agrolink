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Maven Pro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avenPr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744c457a0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744c457a0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744c457a0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744c457a0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744c457a0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744c457a0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744c457a0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e744c457a0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744c457a0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e744c457a0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744c457a0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744c457a0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744c457a0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744c457a0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744c457a0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e744c457a0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744c457a0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e744c457a0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AgroLink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701750" y="33605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Мото: Заедно растем</a:t>
            </a:r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701750" y="4346375"/>
            <a:ext cx="31437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От </a:t>
            </a:r>
            <a:r>
              <a:rPr lang="bg" sz="1200">
                <a:solidFill>
                  <a:schemeClr val="lt1"/>
                </a:solidFill>
              </a:rPr>
              <a:t>Калоян Василев F123905</a:t>
            </a:r>
            <a:r>
              <a:rPr lang="bg" sz="1100"/>
              <a:t> </a:t>
            </a: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bg" sz="1200">
                <a:solidFill>
                  <a:schemeClr val="lt1"/>
                </a:solidFill>
              </a:rPr>
              <a:t>Ивайло Денчев F122804</a:t>
            </a:r>
            <a:r>
              <a:rPr lang="bg" sz="1100">
                <a:solidFill>
                  <a:schemeClr val="lt1"/>
                </a:solidFill>
              </a:rPr>
              <a:t> </a:t>
            </a: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Яни Атов F122732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lt1"/>
                </a:solidFill>
              </a:rPr>
              <a:t>Проблемът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919525" y="1838075"/>
            <a:ext cx="3589800" cy="22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bg">
                <a:solidFill>
                  <a:schemeClr val="lt1"/>
                </a:solidFill>
              </a:rPr>
              <a:t>Зависимост от местни пазари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bg">
                <a:solidFill>
                  <a:schemeClr val="lt1"/>
                </a:solidFill>
              </a:rPr>
              <a:t>Посредниците взимат голяма част от печалбата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bg">
                <a:solidFill>
                  <a:schemeClr val="lt1"/>
                </a:solidFill>
              </a:rPr>
              <a:t>Потребителите нямат директен достъп до местните производители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bg">
                <a:solidFill>
                  <a:schemeClr val="lt1"/>
                </a:solidFill>
              </a:rPr>
              <a:t>Свиващото се население ограничава </a:t>
            </a:r>
            <a:r>
              <a:rPr lang="bg">
                <a:solidFill>
                  <a:schemeClr val="lt1"/>
                </a:solidFill>
              </a:rPr>
              <a:t>растежа</a:t>
            </a:r>
            <a:r>
              <a:rPr lang="bg">
                <a:solidFill>
                  <a:schemeClr val="lt1"/>
                </a:solidFill>
              </a:rPr>
              <a:t> на бизнеса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86" name="Google Shape;286;p14" title="canv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200" y="713250"/>
            <a:ext cx="4223401" cy="36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lt1"/>
                </a:solidFill>
              </a:rPr>
              <a:t>Анализ на проблемът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2000">
                <a:solidFill>
                  <a:schemeClr val="lt1"/>
                </a:solidFill>
              </a:rPr>
              <a:t>Причини</a:t>
            </a:r>
            <a:endParaRPr b="1" sz="20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bg">
                <a:solidFill>
                  <a:schemeClr val="lt1"/>
                </a:solidFill>
              </a:rPr>
              <a:t>липса на централизирана дигитална платформа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bg">
                <a:solidFill>
                  <a:schemeClr val="lt1"/>
                </a:solidFill>
              </a:rPr>
              <a:t>зависимост от посредници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bg">
                <a:solidFill>
                  <a:schemeClr val="lt1"/>
                </a:solidFill>
              </a:rPr>
              <a:t>ограничена реклама на местните продукти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bg">
                <a:solidFill>
                  <a:schemeClr val="lt1"/>
                </a:solidFill>
              </a:rPr>
              <a:t>липса на пряка връзка между производители и крайни потребители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3" name="Google Shape;293;p1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2000">
                <a:solidFill>
                  <a:schemeClr val="lt1"/>
                </a:solidFill>
              </a:rPr>
              <a:t>Последствия</a:t>
            </a:r>
            <a:endParaRPr b="1" sz="20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bg">
                <a:solidFill>
                  <a:schemeClr val="lt1"/>
                </a:solidFill>
              </a:rPr>
              <a:t>намаляване на доходите на производителите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bg">
                <a:solidFill>
                  <a:schemeClr val="lt1"/>
                </a:solidFill>
              </a:rPr>
              <a:t>закриване на малки семейни стопанства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bg">
                <a:solidFill>
                  <a:schemeClr val="lt1"/>
                </a:solidFill>
              </a:rPr>
              <a:t>намаляване на местната икономическа активност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bg">
                <a:solidFill>
                  <a:schemeClr val="lt1"/>
                </a:solidFill>
              </a:rPr>
              <a:t>затруднен достъп на потребителите до качествени местни продукти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98575"/>
            <a:ext cx="3799500" cy="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bg" sz="28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Нашето решение</a:t>
            </a:r>
            <a:endParaRPr sz="2744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1434775" y="1576050"/>
            <a:ext cx="3703500" cy="30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2074">
                <a:solidFill>
                  <a:schemeClr val="lt1"/>
                </a:solidFill>
              </a:rPr>
              <a:t>Системата ще позволява:</a:t>
            </a:r>
            <a:endParaRPr b="1" sz="2074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lt1"/>
                </a:solidFill>
              </a:rPr>
              <a:t>● публикуване на продукти от производителите;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lt1"/>
                </a:solidFill>
              </a:rPr>
              <a:t>● търсене и филтриране на продукти от клиентите;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lt1"/>
                </a:solidFill>
              </a:rPr>
              <a:t>● създаване и управление на поръчки;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lt1"/>
                </a:solidFill>
              </a:rPr>
              <a:t>● оценяване и обратна връзка;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bg">
                <a:solidFill>
                  <a:schemeClr val="lt1"/>
                </a:solidFill>
              </a:rPr>
              <a:t>● популяризиране на производители от малките населени места.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00" name="Google Shape;300;p16" title="Screenshot 2026-06-02 at 19-47-45 AgroLink__Connecting_Local_Producers - Google Презентаци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550" y="103925"/>
            <a:ext cx="361251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lt1"/>
                </a:solidFill>
              </a:rPr>
              <a:t>Основни Функционалности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351825" y="2309675"/>
            <a:ext cx="26553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solidFill>
                  <a:schemeClr val="lt1"/>
                </a:solidFill>
              </a:rPr>
              <a:t>За производителите: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lt1"/>
                </a:solidFill>
              </a:rPr>
              <a:t>● по-голяма видимост;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lt1"/>
                </a:solidFill>
              </a:rPr>
              <a:t>● повече потенциални клиенти;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lt1"/>
                </a:solidFill>
              </a:rPr>
              <a:t>● увеличени приходи;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bg">
                <a:solidFill>
                  <a:schemeClr val="lt1"/>
                </a:solidFill>
              </a:rPr>
              <a:t>● намалена зависимост от посредници.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3497775" y="2241600"/>
            <a:ext cx="2593800" cy="21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За клиентите: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● лесен достъп до местни продукти;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● информация за произхода на продукцията;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● директна комуникация с производителите.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6308525" y="2250350"/>
            <a:ext cx="23754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За малките населени места: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● стимулиране на местната икономика;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● популяризиране на местното производство;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● създаване на предпоставки за устойчиво развитие.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/>
          <p:nvPr>
            <p:ph type="title"/>
          </p:nvPr>
        </p:nvSpPr>
        <p:spPr>
          <a:xfrm>
            <a:off x="1303800" y="598575"/>
            <a:ext cx="43323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lt1"/>
                </a:solidFill>
              </a:rPr>
              <a:t>Използвани технологии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4" name="Google Shape;314;p18"/>
          <p:cNvSpPr txBox="1"/>
          <p:nvPr>
            <p:ph idx="1" type="body"/>
          </p:nvPr>
        </p:nvSpPr>
        <p:spPr>
          <a:xfrm>
            <a:off x="1303800" y="2501800"/>
            <a:ext cx="3214500" cy="16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bg" sz="2000">
                <a:solidFill>
                  <a:schemeClr val="lt1"/>
                </a:solidFill>
              </a:rPr>
              <a:t>Език: C++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bg" sz="2000">
                <a:solidFill>
                  <a:schemeClr val="lt1"/>
                </a:solidFill>
              </a:rPr>
              <a:t>Библиотеки: STL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bg" sz="2000">
                <a:solidFill>
                  <a:schemeClr val="lt1"/>
                </a:solidFill>
              </a:rPr>
              <a:t>Архитектура : OOP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bg" sz="2000">
                <a:solidFill>
                  <a:schemeClr val="lt1"/>
                </a:solidFill>
              </a:rPr>
              <a:t>Шаблони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315" name="Google Shape;315;p18" title="Basic-Principles-of-OOPs-Concepts-in-C-Acte-1024x56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1975" y="1839463"/>
            <a:ext cx="4332301" cy="2594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 txBox="1"/>
          <p:nvPr>
            <p:ph type="title"/>
          </p:nvPr>
        </p:nvSpPr>
        <p:spPr>
          <a:xfrm>
            <a:off x="1303800" y="598575"/>
            <a:ext cx="3312000" cy="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b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ООП йерархия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1" name="Google Shape;321;p19"/>
          <p:cNvSpPr txBox="1"/>
          <p:nvPr>
            <p:ph idx="1" type="body"/>
          </p:nvPr>
        </p:nvSpPr>
        <p:spPr>
          <a:xfrm>
            <a:off x="1303800" y="1534200"/>
            <a:ext cx="6375900" cy="29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800">
                <a:solidFill>
                  <a:schemeClr val="lt1"/>
                </a:solidFill>
              </a:rPr>
              <a:t>Потребители:</a:t>
            </a:r>
            <a:endParaRPr b="1" sz="18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bg" sz="1500">
                <a:solidFill>
                  <a:schemeClr val="lt1"/>
                </a:solidFill>
              </a:rPr>
              <a:t>Базов клас: User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bg" sz="1500">
                <a:solidFill>
                  <a:schemeClr val="lt1"/>
                </a:solidFill>
              </a:rPr>
              <a:t>Наследници: Customer, Producer, Admin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bg" sz="1800">
                <a:solidFill>
                  <a:schemeClr val="lt1"/>
                </a:solidFill>
              </a:rPr>
              <a:t>Продукти:</a:t>
            </a:r>
            <a:endParaRPr b="1" sz="18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bg" sz="1500">
                <a:solidFill>
                  <a:schemeClr val="lt1"/>
                </a:solidFill>
              </a:rPr>
              <a:t>Базов клас: Product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bg" sz="1500">
                <a:solidFill>
                  <a:schemeClr val="lt1"/>
                </a:solidFill>
              </a:rPr>
              <a:t>Наследници: Fruit, Vegetable и др.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000" y="934450"/>
            <a:ext cx="8839201" cy="2861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 txBox="1"/>
          <p:nvPr/>
        </p:nvSpPr>
        <p:spPr>
          <a:xfrm>
            <a:off x="439575" y="2337700"/>
            <a:ext cx="81396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bg" sz="2800">
                <a:solidFill>
                  <a:srgbClr val="FFFFFF"/>
                </a:solidFill>
              </a:rPr>
              <a:t>Демонстрация на приложението</a:t>
            </a:r>
            <a:endParaRPr sz="2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/>
          <p:nvPr/>
        </p:nvSpPr>
        <p:spPr>
          <a:xfrm>
            <a:off x="787975" y="259100"/>
            <a:ext cx="6532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bg" sz="2800">
                <a:solidFill>
                  <a:schemeClr val="lt1"/>
                </a:solidFill>
              </a:rPr>
              <a:t>Очаквани ползи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273650" y="1534200"/>
            <a:ext cx="2113500" cy="3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452250" y="1686600"/>
            <a:ext cx="2113500" cy="3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За производителите:</a:t>
            </a:r>
            <a:endParaRPr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По-голяма видимост и повече клиенти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Повече приходи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Намалена зависимост от посредници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2997625" y="1686600"/>
            <a:ext cx="2113500" cy="3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За клиентите</a:t>
            </a:r>
            <a:endParaRPr b="1"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Лесен достъп до местни продукти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Информация за произхода на продуктите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Директна връзка с производителите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5828175" y="1686600"/>
            <a:ext cx="2535900" cy="3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За малките населени места</a:t>
            </a:r>
            <a:endParaRPr b="1"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Популяризиране на местното производство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bg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Стимулиране на местната икономика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